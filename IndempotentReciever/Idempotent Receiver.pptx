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Economica"/>
      <p:regular r:id="rId15"/>
      <p:bold r:id="rId16"/>
      <p:italic r:id="rId17"/>
      <p:boldItalic r:id="rId18"/>
    </p:embeddedFont>
    <p:embeddedFont>
      <p:font typeface="Comfortaa"/>
      <p:regular r:id="rId19"/>
      <p:bold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mfortaa-bold.fntdata"/><Relationship Id="rId11" Type="http://schemas.openxmlformats.org/officeDocument/2006/relationships/slide" Target="slides/slide6.xml"/><Relationship Id="rId22" Type="http://schemas.openxmlformats.org/officeDocument/2006/relationships/font" Target="fonts/OpenSans-bold.fntdata"/><Relationship Id="rId10" Type="http://schemas.openxmlformats.org/officeDocument/2006/relationships/slide" Target="slides/slide5.xml"/><Relationship Id="rId21" Type="http://schemas.openxmlformats.org/officeDocument/2006/relationships/font" Target="fonts/OpenSans-regular.fntdata"/><Relationship Id="rId13" Type="http://schemas.openxmlformats.org/officeDocument/2006/relationships/slide" Target="slides/slide8.xml"/><Relationship Id="rId24" Type="http://schemas.openxmlformats.org/officeDocument/2006/relationships/font" Target="fonts/OpenSans-boldItalic.fntdata"/><Relationship Id="rId12" Type="http://schemas.openxmlformats.org/officeDocument/2006/relationships/slide" Target="slides/slide7.xml"/><Relationship Id="rId23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Economica-regular.fntdata"/><Relationship Id="rId14" Type="http://schemas.openxmlformats.org/officeDocument/2006/relationships/slide" Target="slides/slide9.xml"/><Relationship Id="rId17" Type="http://schemas.openxmlformats.org/officeDocument/2006/relationships/font" Target="fonts/Economica-italic.fntdata"/><Relationship Id="rId16" Type="http://schemas.openxmlformats.org/officeDocument/2006/relationships/font" Target="fonts/Economica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omfortaa-regular.fntdata"/><Relationship Id="rId6" Type="http://schemas.openxmlformats.org/officeDocument/2006/relationships/slide" Target="slides/slide1.xml"/><Relationship Id="rId18" Type="http://schemas.openxmlformats.org/officeDocument/2006/relationships/font" Target="fonts/Economic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d23c71563c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d23c71563c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538fe908d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538fe908d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538fe908d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538fe908d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538fe908d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538fe908d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e448e545c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e448e545c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e448e545c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e448e545c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e448e545c5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e448e545c5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5538fe908d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5538fe908d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/>
          <p:nvPr/>
        </p:nvSpPr>
        <p:spPr>
          <a:xfrm>
            <a:off x="25" y="1985200"/>
            <a:ext cx="9144000" cy="120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700"/>
              <a:t>Idempotent Receiver</a:t>
            </a:r>
            <a:endParaRPr sz="2400"/>
          </a:p>
        </p:txBody>
      </p:sp>
      <p:sp>
        <p:nvSpPr>
          <p:cNvPr id="64" name="Google Shape;64;p13"/>
          <p:cNvSpPr txBox="1"/>
          <p:nvPr>
            <p:ph type="title"/>
          </p:nvPr>
        </p:nvSpPr>
        <p:spPr>
          <a:xfrm>
            <a:off x="632825" y="36290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lang="pt-BR" sz="13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UNIVERSIDADE FEDERAL DO RIO GRANDE DO NORTE</a:t>
            </a:r>
            <a:endParaRPr sz="13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40000"/>
              </a:lnSpc>
              <a:spcBef>
                <a:spcPts val="1200"/>
              </a:spcBef>
              <a:spcAft>
                <a:spcPts val="1200"/>
              </a:spcAft>
              <a:buSzPts val="990"/>
              <a:buNone/>
            </a:pPr>
            <a:r>
              <a:rPr lang="pt-BR" sz="13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DEPARTAMENTO DE MATEMÁTICA E INFORMÁTICA APLICADA</a:t>
            </a:r>
            <a:endParaRPr sz="13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" name="Google Shape;65;p13"/>
          <p:cNvSpPr txBox="1"/>
          <p:nvPr>
            <p:ph type="title"/>
          </p:nvPr>
        </p:nvSpPr>
        <p:spPr>
          <a:xfrm>
            <a:off x="773700" y="329630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40000"/>
              </a:lnSpc>
              <a:spcBef>
                <a:spcPts val="1200"/>
              </a:spcBef>
              <a:spcAft>
                <a:spcPts val="1200"/>
              </a:spcAft>
              <a:buSzPts val="990"/>
              <a:buNone/>
            </a:pPr>
            <a:r>
              <a:rPr lang="pt-BR" sz="13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ALUNO: LUÍS EDUARDO DE OLIVEIRA SALES</a:t>
            </a:r>
            <a:endParaRPr sz="13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10998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O QUE É</a:t>
            </a:r>
            <a:endParaRPr sz="16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ESTRUTURA</a:t>
            </a:r>
            <a:endParaRPr sz="16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GRÁFICOS</a:t>
            </a:r>
            <a:endParaRPr sz="16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1" name="Google Shape;71;p14"/>
          <p:cNvSpPr txBox="1"/>
          <p:nvPr>
            <p:ph type="title"/>
          </p:nvPr>
        </p:nvSpPr>
        <p:spPr>
          <a:xfrm>
            <a:off x="311700" y="90225"/>
            <a:ext cx="8520600" cy="6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CCA677"/>
                </a:solidFill>
              </a:rPr>
              <a:t>AGENDA</a:t>
            </a:r>
            <a:endParaRPr b="1" sz="3000">
              <a:solidFill>
                <a:srgbClr val="CCA677"/>
              </a:solidFill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425" y="1730850"/>
            <a:ext cx="226425" cy="22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425" y="2165200"/>
            <a:ext cx="226425" cy="22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425" y="2599550"/>
            <a:ext cx="226425" cy="22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5450" y="1554738"/>
            <a:ext cx="1860550" cy="1860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" name="Google Shape;76;p14"/>
          <p:cNvCxnSpPr/>
          <p:nvPr/>
        </p:nvCxnSpPr>
        <p:spPr>
          <a:xfrm>
            <a:off x="212025" y="706750"/>
            <a:ext cx="4719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311700" y="90225"/>
            <a:ext cx="8520600" cy="6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CCA677"/>
                </a:solidFill>
              </a:rPr>
              <a:t>O QUE É</a:t>
            </a:r>
            <a:r>
              <a:rPr b="1" lang="pt-BR" sz="3000">
                <a:solidFill>
                  <a:srgbClr val="CCA677"/>
                </a:solidFill>
              </a:rPr>
              <a:t>                                  </a:t>
            </a:r>
            <a:endParaRPr b="1" sz="3000">
              <a:solidFill>
                <a:srgbClr val="CCA677"/>
              </a:solidFill>
            </a:endParaRPr>
          </a:p>
        </p:txBody>
      </p:sp>
      <p:cxnSp>
        <p:nvCxnSpPr>
          <p:cNvPr id="82" name="Google Shape;82;p15"/>
          <p:cNvCxnSpPr/>
          <p:nvPr/>
        </p:nvCxnSpPr>
        <p:spPr>
          <a:xfrm>
            <a:off x="212025" y="706750"/>
            <a:ext cx="8500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" name="Google Shape;83;p15"/>
          <p:cNvSpPr txBox="1"/>
          <p:nvPr>
            <p:ph type="title"/>
          </p:nvPr>
        </p:nvSpPr>
        <p:spPr>
          <a:xfrm>
            <a:off x="212025" y="1288500"/>
            <a:ext cx="4983300" cy="3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mfortaa"/>
              <a:buChar char="➔"/>
            </a:pPr>
            <a:r>
              <a:rPr lang="pt-BR" sz="1100">
                <a:latin typeface="Comfortaa"/>
                <a:ea typeface="Comfortaa"/>
                <a:cs typeface="Comfortaa"/>
                <a:sym typeface="Comfortaa"/>
              </a:rPr>
              <a:t>Uma técnica de sistemas de distribuídos que utiliza da técnica </a:t>
            </a:r>
            <a:r>
              <a:rPr b="1" lang="pt-BR" sz="1100">
                <a:latin typeface="Comfortaa"/>
                <a:ea typeface="Comfortaa"/>
                <a:cs typeface="Comfortaa"/>
                <a:sym typeface="Comfortaa"/>
              </a:rPr>
              <a:t>WAL</a:t>
            </a:r>
            <a:r>
              <a:rPr lang="pt-BR" sz="1100">
                <a:latin typeface="Comfortaa"/>
                <a:ea typeface="Comfortaa"/>
                <a:cs typeface="Comfortaa"/>
                <a:sym typeface="Comfortaa"/>
              </a:rPr>
              <a:t>(Write-Ahead-Log) para criar Idempotência no sistema, ou seja garante que uma mesma mensagem processada múltiplas vezes produza sempre o mesmo efeito, evitando duplicações em sistemas distribuídos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5347300" y="0"/>
            <a:ext cx="18984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 txBox="1"/>
          <p:nvPr>
            <p:ph type="title"/>
          </p:nvPr>
        </p:nvSpPr>
        <p:spPr>
          <a:xfrm>
            <a:off x="311700" y="544925"/>
            <a:ext cx="8520600" cy="6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B8361"/>
                </a:solidFill>
              </a:rPr>
              <a:t>CONTEXTUALIZAÇÃO                                                                         </a:t>
            </a:r>
            <a:r>
              <a:rPr lang="pt-BR" sz="2000">
                <a:solidFill>
                  <a:schemeClr val="lt1"/>
                </a:solidFill>
              </a:rPr>
              <a:t>OBJETIVOS </a:t>
            </a:r>
            <a:r>
              <a:rPr lang="pt-BR" sz="2000">
                <a:solidFill>
                  <a:srgbClr val="9B8361"/>
                </a:solidFill>
              </a:rPr>
              <a:t>                     VANTAGENS</a:t>
            </a:r>
            <a:endParaRPr sz="2000">
              <a:solidFill>
                <a:schemeClr val="lt1"/>
              </a:solidFill>
            </a:endParaRPr>
          </a:p>
        </p:txBody>
      </p:sp>
      <p:cxnSp>
        <p:nvCxnSpPr>
          <p:cNvPr id="86" name="Google Shape;86;p15"/>
          <p:cNvCxnSpPr/>
          <p:nvPr/>
        </p:nvCxnSpPr>
        <p:spPr>
          <a:xfrm>
            <a:off x="5347000" y="706750"/>
            <a:ext cx="1905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311700" y="90225"/>
            <a:ext cx="8520600" cy="6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CCA677"/>
                </a:solidFill>
              </a:rPr>
              <a:t>O QUE É</a:t>
            </a:r>
            <a:endParaRPr b="1" sz="3000">
              <a:solidFill>
                <a:srgbClr val="CCA677"/>
              </a:solidFill>
            </a:endParaRPr>
          </a:p>
        </p:txBody>
      </p:sp>
      <p:cxnSp>
        <p:nvCxnSpPr>
          <p:cNvPr id="92" name="Google Shape;92;p16"/>
          <p:cNvCxnSpPr/>
          <p:nvPr/>
        </p:nvCxnSpPr>
        <p:spPr>
          <a:xfrm>
            <a:off x="212025" y="706750"/>
            <a:ext cx="8500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6"/>
          <p:cNvSpPr/>
          <p:nvPr/>
        </p:nvSpPr>
        <p:spPr>
          <a:xfrm>
            <a:off x="2215275" y="0"/>
            <a:ext cx="50304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>
            <p:ph type="title"/>
          </p:nvPr>
        </p:nvSpPr>
        <p:spPr>
          <a:xfrm>
            <a:off x="311700" y="544925"/>
            <a:ext cx="8520600" cy="6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B8361"/>
                </a:solidFill>
              </a:rPr>
              <a:t>CONTEXTUALIZAÇÃO        </a:t>
            </a:r>
            <a:r>
              <a:rPr lang="pt-BR" sz="2000">
                <a:solidFill>
                  <a:schemeClr val="lt1"/>
                </a:solidFill>
              </a:rPr>
              <a:t>OBJETIVOS </a:t>
            </a:r>
            <a:r>
              <a:rPr lang="pt-BR" sz="2000">
                <a:solidFill>
                  <a:srgbClr val="9B8361"/>
                </a:solidFill>
              </a:rPr>
              <a:t>                                                                                      VANTAGENS</a:t>
            </a:r>
            <a:endParaRPr sz="2000">
              <a:solidFill>
                <a:schemeClr val="lt1"/>
              </a:solidFill>
            </a:endParaRPr>
          </a:p>
        </p:txBody>
      </p:sp>
      <p:cxnSp>
        <p:nvCxnSpPr>
          <p:cNvPr id="95" name="Google Shape;95;p16"/>
          <p:cNvCxnSpPr/>
          <p:nvPr/>
        </p:nvCxnSpPr>
        <p:spPr>
          <a:xfrm>
            <a:off x="2211675" y="706750"/>
            <a:ext cx="5040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" name="Google Shape;96;p16"/>
          <p:cNvSpPr txBox="1"/>
          <p:nvPr>
            <p:ph type="title"/>
          </p:nvPr>
        </p:nvSpPr>
        <p:spPr>
          <a:xfrm>
            <a:off x="2196825" y="1059900"/>
            <a:ext cx="5067300" cy="3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OBJETIVO GERAL:</a:t>
            </a:r>
            <a:endParaRPr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mfortaa"/>
              <a:buChar char="➔"/>
            </a:pPr>
            <a:r>
              <a:rPr lang="pt-BR" sz="1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T</a:t>
            </a:r>
            <a:r>
              <a:rPr lang="pt-BR" sz="1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ornar os processamentos de mensagens idempotente — ou seja, independente de quantas vezes a operação é executada, o resultado final será o mesmo.</a:t>
            </a:r>
            <a:endParaRPr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OBJETIVOS ESPECÍFICOS:</a:t>
            </a:r>
            <a:endParaRPr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mfortaa"/>
              <a:buChar char="➔"/>
            </a:pPr>
            <a:r>
              <a:rPr b="1" lang="pt-BR" sz="1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Facilitar o reprocessamento seguro de requisições</a:t>
            </a:r>
            <a:endParaRPr b="1"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Quando o cliente não recebe confirmação, ele pode reenviar a requisição com segurança.</a:t>
            </a:r>
            <a:endParaRPr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mfortaa"/>
              <a:buChar char="➔"/>
            </a:pPr>
            <a:r>
              <a:rPr b="1" lang="pt-BR" sz="1100">
                <a:latin typeface="Comfortaa"/>
                <a:ea typeface="Comfortaa"/>
                <a:cs typeface="Comfortaa"/>
                <a:sym typeface="Comfortaa"/>
              </a:rPr>
              <a:t>Aumentar a confiabilidade em sistemas distribuídos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Comfortaa"/>
                <a:ea typeface="Comfortaa"/>
                <a:cs typeface="Comfortaa"/>
                <a:sym typeface="Comfortaa"/>
              </a:rPr>
              <a:t>Permite reenvio de mensagens sem causar inconsistências, garantindo resiliência em ambientes com falhas de rede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90225"/>
            <a:ext cx="8520600" cy="6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CCA677"/>
                </a:solidFill>
              </a:rPr>
              <a:t>O QUE É</a:t>
            </a:r>
            <a:r>
              <a:rPr b="1" lang="pt-BR" sz="3000">
                <a:solidFill>
                  <a:srgbClr val="CCA677"/>
                </a:solidFill>
              </a:rPr>
              <a:t>                                  </a:t>
            </a:r>
            <a:endParaRPr b="1" sz="3000">
              <a:solidFill>
                <a:srgbClr val="CCA677"/>
              </a:solidFill>
            </a:endParaRPr>
          </a:p>
        </p:txBody>
      </p:sp>
      <p:cxnSp>
        <p:nvCxnSpPr>
          <p:cNvPr id="102" name="Google Shape;102;p17"/>
          <p:cNvCxnSpPr/>
          <p:nvPr/>
        </p:nvCxnSpPr>
        <p:spPr>
          <a:xfrm>
            <a:off x="212025" y="706750"/>
            <a:ext cx="8500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7"/>
          <p:cNvSpPr/>
          <p:nvPr/>
        </p:nvSpPr>
        <p:spPr>
          <a:xfrm>
            <a:off x="2215275" y="0"/>
            <a:ext cx="18984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311700" y="544925"/>
            <a:ext cx="8520600" cy="6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B8361"/>
                </a:solidFill>
              </a:rPr>
              <a:t>CONTEXTUALIZAÇÃO        </a:t>
            </a:r>
            <a:r>
              <a:rPr lang="pt-BR" sz="2000">
                <a:solidFill>
                  <a:schemeClr val="lt1"/>
                </a:solidFill>
              </a:rPr>
              <a:t>OBJETIVOS </a:t>
            </a:r>
            <a:r>
              <a:rPr lang="pt-BR" sz="2000">
                <a:solidFill>
                  <a:srgbClr val="9B8361"/>
                </a:solidFill>
              </a:rPr>
              <a:t>                     VANTAGENS</a:t>
            </a:r>
            <a:endParaRPr sz="2000">
              <a:solidFill>
                <a:schemeClr val="lt1"/>
              </a:solidFill>
            </a:endParaRPr>
          </a:p>
        </p:txBody>
      </p:sp>
      <p:cxnSp>
        <p:nvCxnSpPr>
          <p:cNvPr id="105" name="Google Shape;105;p17"/>
          <p:cNvCxnSpPr/>
          <p:nvPr/>
        </p:nvCxnSpPr>
        <p:spPr>
          <a:xfrm>
            <a:off x="2211675" y="706750"/>
            <a:ext cx="190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" name="Google Shape;106;p17"/>
          <p:cNvSpPr txBox="1"/>
          <p:nvPr>
            <p:ph type="title"/>
          </p:nvPr>
        </p:nvSpPr>
        <p:spPr>
          <a:xfrm>
            <a:off x="4222775" y="1288500"/>
            <a:ext cx="4964100" cy="3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mfortaa"/>
              <a:buChar char="➔"/>
            </a:pPr>
            <a:r>
              <a:rPr b="1" lang="pt-BR" sz="1100">
                <a:latin typeface="Comfortaa"/>
                <a:ea typeface="Comfortaa"/>
                <a:cs typeface="Comfortaa"/>
                <a:sym typeface="Comfortaa"/>
              </a:rPr>
              <a:t>Processamento duplicado de mensagens: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Comfortaa"/>
                <a:ea typeface="Comfortaa"/>
                <a:cs typeface="Comfortaa"/>
                <a:sym typeface="Comfortaa"/>
              </a:rPr>
              <a:t>Garante que, mesmo que a mesma mensagem seja recebida múltiplas vezes (por falhas de rede, reenvios do cliente, etc.), ela seja processada apenas uma vez.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mfortaa"/>
              <a:buChar char="➔"/>
            </a:pPr>
            <a:r>
              <a:rPr b="1" lang="pt-BR" sz="1100">
                <a:latin typeface="Comfortaa"/>
                <a:ea typeface="Comfortaa"/>
                <a:cs typeface="Comfortaa"/>
                <a:sym typeface="Comfortaa"/>
              </a:rPr>
              <a:t>Consistência de dados: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Comfortaa"/>
                <a:ea typeface="Comfortaa"/>
                <a:cs typeface="Comfortaa"/>
                <a:sym typeface="Comfortaa"/>
              </a:rPr>
              <a:t>Evita que operações como débito em conta, criação de registros ou envio de notificações sejam realizadas mais de uma vez, preservando a consistência da aplicação.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mfortaa"/>
              <a:buChar char="➔"/>
            </a:pPr>
            <a:r>
              <a:rPr b="1" lang="pt-BR" sz="1100">
                <a:latin typeface="Comfortaa"/>
                <a:ea typeface="Comfortaa"/>
                <a:cs typeface="Comfortaa"/>
                <a:sym typeface="Comfortaa"/>
              </a:rPr>
              <a:t>Tolerância a falhas de comunicação: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Comfortaa"/>
                <a:ea typeface="Comfortaa"/>
                <a:cs typeface="Comfortaa"/>
                <a:sym typeface="Comfortaa"/>
              </a:rPr>
              <a:t>Torna a comunicação mais resiliente a perdas, atrasos ou duplicações, comuns em redes distribuídas.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mfortaa"/>
              <a:buChar char="➔"/>
            </a:pPr>
            <a:r>
              <a:rPr b="1" lang="pt-BR" sz="1100">
                <a:latin typeface="Comfortaa"/>
                <a:ea typeface="Comfortaa"/>
                <a:cs typeface="Comfortaa"/>
                <a:sym typeface="Comfortaa"/>
              </a:rPr>
              <a:t>Confirmação segura de entrega: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Comfortaa"/>
                <a:ea typeface="Comfortaa"/>
                <a:cs typeface="Comfortaa"/>
                <a:sym typeface="Comfortaa"/>
              </a:rPr>
              <a:t>Permite que clientes reenviem mensagens com segurança até receberem uma resposta, sem medo de causar efeitos colaterais.</a:t>
            </a:r>
            <a:endParaRPr sz="10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311700" y="544925"/>
            <a:ext cx="8520600" cy="6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B8361"/>
                </a:solidFill>
              </a:rPr>
              <a:t>ENTIDADES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12" name="Google Shape;112;p18"/>
          <p:cNvSpPr txBox="1"/>
          <p:nvPr>
            <p:ph type="title"/>
          </p:nvPr>
        </p:nvSpPr>
        <p:spPr>
          <a:xfrm>
            <a:off x="311700" y="90225"/>
            <a:ext cx="8520600" cy="6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CCA677"/>
                </a:solidFill>
              </a:rPr>
              <a:t>ESTRUTURA</a:t>
            </a:r>
            <a:endParaRPr b="1" sz="3000">
              <a:solidFill>
                <a:srgbClr val="CCA677"/>
              </a:solidFill>
            </a:endParaRPr>
          </a:p>
        </p:txBody>
      </p:sp>
      <p:cxnSp>
        <p:nvCxnSpPr>
          <p:cNvPr id="113" name="Google Shape;113;p18"/>
          <p:cNvCxnSpPr/>
          <p:nvPr/>
        </p:nvCxnSpPr>
        <p:spPr>
          <a:xfrm>
            <a:off x="212025" y="706750"/>
            <a:ext cx="4719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4" name="Google Shape;1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0600" y="1141700"/>
            <a:ext cx="3642775" cy="364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311700" y="544925"/>
            <a:ext cx="8520600" cy="6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B8361"/>
                </a:solidFill>
              </a:rPr>
              <a:t>ETAPAS DO TRABALHO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90225"/>
            <a:ext cx="8520600" cy="6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CCA677"/>
                </a:solidFill>
              </a:rPr>
              <a:t>ESTRUTURA</a:t>
            </a:r>
            <a:r>
              <a:rPr b="1" lang="pt-BR" sz="3000">
                <a:solidFill>
                  <a:srgbClr val="CCA677"/>
                </a:solidFill>
              </a:rPr>
              <a:t>                                 </a:t>
            </a:r>
            <a:endParaRPr b="1" sz="3000">
              <a:solidFill>
                <a:srgbClr val="CCA677"/>
              </a:solidFill>
            </a:endParaRPr>
          </a:p>
        </p:txBody>
      </p:sp>
      <p:cxnSp>
        <p:nvCxnSpPr>
          <p:cNvPr id="121" name="Google Shape;121;p19"/>
          <p:cNvCxnSpPr/>
          <p:nvPr/>
        </p:nvCxnSpPr>
        <p:spPr>
          <a:xfrm>
            <a:off x="212025" y="706750"/>
            <a:ext cx="4719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" name="Google Shape;122;p19"/>
          <p:cNvSpPr/>
          <p:nvPr/>
        </p:nvSpPr>
        <p:spPr>
          <a:xfrm>
            <a:off x="1393200" y="1645200"/>
            <a:ext cx="1621800" cy="77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Requisição</a:t>
            </a:r>
            <a:r>
              <a:rPr lang="pt-BR"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do Cliente</a:t>
            </a:r>
            <a:endParaRPr sz="12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1393200" y="2758200"/>
            <a:ext cx="1621800" cy="77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Enviar ao WAL</a:t>
            </a:r>
            <a:endParaRPr sz="12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3761100" y="1645200"/>
            <a:ext cx="1621800" cy="77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Enviar a uma Instância</a:t>
            </a:r>
            <a:endParaRPr sz="12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3761100" y="2758200"/>
            <a:ext cx="1621800" cy="77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Processar Requisição</a:t>
            </a:r>
            <a:endParaRPr sz="12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6129000" y="1645200"/>
            <a:ext cx="1621800" cy="77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Atualizar no WAL</a:t>
            </a:r>
            <a:endParaRPr sz="12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6129000" y="2758200"/>
            <a:ext cx="1621800" cy="77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Resposta ao Cliente</a:t>
            </a:r>
            <a:endParaRPr sz="12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28" name="Google Shape;128;p19"/>
          <p:cNvCxnSpPr>
            <a:stCxn id="123" idx="3"/>
            <a:endCxn id="124" idx="1"/>
          </p:cNvCxnSpPr>
          <p:nvPr/>
        </p:nvCxnSpPr>
        <p:spPr>
          <a:xfrm flipH="1" rot="10800000">
            <a:off x="3015000" y="2032350"/>
            <a:ext cx="746100" cy="1113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19"/>
          <p:cNvCxnSpPr>
            <a:stCxn id="124" idx="2"/>
            <a:endCxn id="125" idx="0"/>
          </p:cNvCxnSpPr>
          <p:nvPr/>
        </p:nvCxnSpPr>
        <p:spPr>
          <a:xfrm flipH="1" rot="-5400000">
            <a:off x="4402950" y="2588550"/>
            <a:ext cx="338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p19"/>
          <p:cNvCxnSpPr>
            <a:stCxn id="125" idx="3"/>
            <a:endCxn id="126" idx="1"/>
          </p:cNvCxnSpPr>
          <p:nvPr/>
        </p:nvCxnSpPr>
        <p:spPr>
          <a:xfrm flipH="1" rot="10800000">
            <a:off x="5382900" y="2032350"/>
            <a:ext cx="746100" cy="1113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p19"/>
          <p:cNvCxnSpPr>
            <a:stCxn id="126" idx="2"/>
            <a:endCxn id="127" idx="0"/>
          </p:cNvCxnSpPr>
          <p:nvPr/>
        </p:nvCxnSpPr>
        <p:spPr>
          <a:xfrm flipH="1" rot="-5400000">
            <a:off x="6770850" y="2588550"/>
            <a:ext cx="338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19"/>
          <p:cNvCxnSpPr>
            <a:stCxn id="122" idx="2"/>
            <a:endCxn id="123" idx="0"/>
          </p:cNvCxnSpPr>
          <p:nvPr/>
        </p:nvCxnSpPr>
        <p:spPr>
          <a:xfrm flipH="1" rot="-5400000">
            <a:off x="2035050" y="2588550"/>
            <a:ext cx="338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311700" y="544925"/>
            <a:ext cx="8520600" cy="6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B8361"/>
                </a:solidFill>
              </a:rPr>
              <a:t>THROUGHPUT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38" name="Google Shape;138;p20"/>
          <p:cNvSpPr txBox="1"/>
          <p:nvPr>
            <p:ph type="title"/>
          </p:nvPr>
        </p:nvSpPr>
        <p:spPr>
          <a:xfrm>
            <a:off x="311700" y="90225"/>
            <a:ext cx="8520600" cy="6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CCA677"/>
                </a:solidFill>
              </a:rPr>
              <a:t>GRÁFICOS</a:t>
            </a:r>
            <a:endParaRPr b="1" sz="3000">
              <a:solidFill>
                <a:srgbClr val="CCA677"/>
              </a:solidFill>
            </a:endParaRPr>
          </a:p>
        </p:txBody>
      </p:sp>
      <p:cxnSp>
        <p:nvCxnSpPr>
          <p:cNvPr id="139" name="Google Shape;139;p20"/>
          <p:cNvCxnSpPr/>
          <p:nvPr/>
        </p:nvCxnSpPr>
        <p:spPr>
          <a:xfrm>
            <a:off x="212025" y="706750"/>
            <a:ext cx="4719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0" name="Google Shape;140;p20" title="Troughtput_IdempotentReceiv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550" y="1212960"/>
            <a:ext cx="7514910" cy="364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9B8361"/>
                </a:solidFill>
              </a:rPr>
              <a:t>OBRIGADO!</a:t>
            </a:r>
            <a:endParaRPr sz="3200">
              <a:solidFill>
                <a:srgbClr val="9B836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